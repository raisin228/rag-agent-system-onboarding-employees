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интеллектуального чат-бота для автоматизации онбординга сотрудников на основе RAG-архитектуры с мультимодальным вводом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01.03.02 — Прикладная математика и информатика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Богдан Сергеевич, ИВТ-41БО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 ф.-м. н., доцент И. В. Парамонов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Ярославский государственный университет им. П. Г. Демидова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традиционного онбординга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5720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регламентов, политик и инструкций распределены по вики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сотрудник отвлекает коллег рутинными вопросами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требует знания терминологии, которой у новичка нет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 не поддерживается корпоративными системами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77724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914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 на рынке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3291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Glean, Guru — корпоративный поиск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Virtual Agent — HR/ITSM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AI, Moveworks — HR-агенты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TEAMLY AI, Wikilect — RU-сегмент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3383280"/>
            <a:ext cx="3291840" cy="77724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Text 9"/>
          <p:cNvSpPr/>
          <p:nvPr/>
        </p:nvSpPr>
        <p:spPr>
          <a:xfrm>
            <a:off x="5394960" y="3383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решения — облачные сервисы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подписной моделью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6" name="Text 4"/>
          <p:cNvSpPr/>
          <p:nvPr/>
        </p:nvSpPr>
        <p:spPr>
          <a:xfrm>
            <a:off x="548640" y="868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интеллектуальную систему поддержки онбординга сотрудников, принимающую запросы в текстовом и голосовом форматах и формирующую ответы по корпоративной базе знаний с использованием RAG-архитектуры в режиме потоковой передачи токенов.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0" name="Text 8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RAG-конвейер: загрузка → сегментация → индексация → поиск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3" name="Text 11"/>
          <p:cNvSpPr/>
          <p:nvPr/>
        </p:nvSpPr>
        <p:spPr>
          <a:xfrm>
            <a:off x="466344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24231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 агент на LangGraph с классификацией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обработка задач (RabbitMQ)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9" name="Text 17"/>
          <p:cNvSpPr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 доставка ответов (Redis Pub/Sub + SSE)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2" name="Text 20"/>
          <p:cNvSpPr/>
          <p:nvPr/>
        </p:nvSpPr>
        <p:spPr>
          <a:xfrm>
            <a:off x="365760" y="3977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9776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распознавания речи (faster-whisper)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5" name="Text 23"/>
          <p:cNvSpPr/>
          <p:nvPr/>
        </p:nvSpPr>
        <p:spPr>
          <a:xfrm>
            <a:off x="4663440" y="3977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397764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(Gradio) и REST API (FastAPI)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решений и новизна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77724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097280"/>
                <a:gridCol w="77724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Развёрт.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Glean / Guru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Подписка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VA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~Огр.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Leena AI / Moveworks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Лицензия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TEAMLY AI / Wikilect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млн 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Разрабатываемая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Локально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Инфра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777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0" y="1234440"/>
            <a:ext cx="109728" cy="86868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9" name="Text 6"/>
          <p:cNvSpPr/>
          <p:nvPr/>
        </p:nvSpPr>
        <p:spPr>
          <a:xfrm>
            <a:off x="6172200" y="13075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64592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 в контуре организации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24028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2240280"/>
            <a:ext cx="109728" cy="86868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3" name="Text 10"/>
          <p:cNvSpPr/>
          <p:nvPr/>
        </p:nvSpPr>
        <p:spPr>
          <a:xfrm>
            <a:off x="6172200" y="231343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2651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Нулевые лицензионные затраты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246120"/>
            <a:ext cx="29260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3246120"/>
            <a:ext cx="109728" cy="86868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7" name="Text 14"/>
          <p:cNvSpPr/>
          <p:nvPr/>
        </p:nvSpPr>
        <p:spPr>
          <a:xfrm>
            <a:off x="6172200" y="331927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голосовой ввод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технологии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7" name="Text 5"/>
          <p:cNvSpPr/>
          <p:nvPr/>
        </p:nvSpPr>
        <p:spPr>
          <a:xfrm>
            <a:off x="457200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БД, HNSW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00584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1" name="Text 9"/>
          <p:cNvSpPr/>
          <p:nvPr/>
        </p:nvSpPr>
        <p:spPr>
          <a:xfrm>
            <a:off x="2176272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76272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 (384)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03904" y="100584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5" name="Text 13"/>
          <p:cNvSpPr/>
          <p:nvPr/>
        </p:nvSpPr>
        <p:spPr>
          <a:xfrm>
            <a:off x="3895344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phi3:mini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95344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22976" y="100584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9" name="Text 17"/>
          <p:cNvSpPr/>
          <p:nvPr/>
        </p:nvSpPr>
        <p:spPr>
          <a:xfrm>
            <a:off x="5614416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состояний агента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100584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42048" y="100584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23" name="Text 21"/>
          <p:cNvSpPr/>
          <p:nvPr/>
        </p:nvSpPr>
        <p:spPr>
          <a:xfrm>
            <a:off x="7333488" y="137160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33488" y="19202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сообщений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78892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27" name="Text 25"/>
          <p:cNvSpPr/>
          <p:nvPr/>
        </p:nvSpPr>
        <p:spPr>
          <a:xfrm>
            <a:off x="457200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Шина токенов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84832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84832" y="278892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1" name="Text 29"/>
          <p:cNvSpPr/>
          <p:nvPr/>
        </p:nvSpPr>
        <p:spPr>
          <a:xfrm>
            <a:off x="2176272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76272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03904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03904" y="278892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5" name="Text 33"/>
          <p:cNvSpPr/>
          <p:nvPr/>
        </p:nvSpPr>
        <p:spPr>
          <a:xfrm>
            <a:off x="3895344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95344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часть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22976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22976" y="278892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9" name="Text 37"/>
          <p:cNvSpPr/>
          <p:nvPr/>
        </p:nvSpPr>
        <p:spPr>
          <a:xfrm>
            <a:off x="5614416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14416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42048" y="27889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42048" y="2788920"/>
            <a:ext cx="1600200" cy="164592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43" name="Text 41"/>
          <p:cNvSpPr/>
          <p:nvPr/>
        </p:nvSpPr>
        <p:spPr>
          <a:xfrm>
            <a:off x="7333488" y="31546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33488" y="3703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5" name="Image 0" descr="/sessions/brave-eager-cerf/mnt/outputs/build/img/image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3657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8686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 запроса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0" y="137160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8" name="Text 5"/>
          <p:cNvSpPr/>
          <p:nvPr/>
        </p:nvSpPr>
        <p:spPr>
          <a:xfrm>
            <a:off x="4572000" y="1371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83480" y="13533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FastAPI регистрирует задачу в RabbitMQ, возвращает task_id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87452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1" name="Text 8"/>
          <p:cNvSpPr/>
          <p:nvPr/>
        </p:nvSpPr>
        <p:spPr>
          <a:xfrm>
            <a:off x="4572000" y="18745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8562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открывает SSE-соединение по task_id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4" name="Text 11"/>
          <p:cNvSpPr/>
          <p:nvPr/>
        </p:nvSpPr>
        <p:spPr>
          <a:xfrm>
            <a:off x="4572000" y="23774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235915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Воркер забирает задачу, передаёт агенту LangGraph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88036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7" name="Text 14"/>
          <p:cNvSpPr/>
          <p:nvPr/>
        </p:nvSpPr>
        <p:spPr>
          <a:xfrm>
            <a:off x="4572000" y="28803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286207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классифицирует намерение и ветвит обработку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338328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0" name="Text 17"/>
          <p:cNvSpPr/>
          <p:nvPr/>
        </p:nvSpPr>
        <p:spPr>
          <a:xfrm>
            <a:off x="4572000" y="33832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33649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RAG-узел извлекает контекст из Qdrant, генерирует ответ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3886200"/>
            <a:ext cx="310896" cy="310896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3" name="Text 20"/>
          <p:cNvSpPr/>
          <p:nvPr/>
        </p:nvSpPr>
        <p:spPr>
          <a:xfrm>
            <a:off x="4572000" y="38862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83480" y="38679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публикуются в Redis Pub/Sub → SSE → браузер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5" name="Image 0" descr="/sessions/brave-eager-cerf/mnt/outputs/build/img/image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41148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8686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индексации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23444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TextLoader - RecursiveCharacterTextSplitter (chunk_size=512, overlap=64) - BAAI/bge-small-en (384-d) - пакетная загрузка в Qdrant с payload {текст, источник}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2468880"/>
            <a:ext cx="4023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26060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запроса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297180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- вектор - similarity_search (k=10, cosine) - сериализация фрагментов в контекст - передача LLM. Источники прикрепляются к ответу - обоснованность вместо галлюцинаций.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 агент (LangGraph)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pic>
        <p:nvPicPr>
          <p:cNvPr id="5" name="Image 0" descr="/sessions/brave-eager-cerf/mnt/outputs/build/img/image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231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графа состояний</a:t>
            </a:r>
            <a:endParaRPr lang="en-US" sz="1000" dirty="0"/>
          </a:p>
        </p:txBody>
      </p:sp>
      <p:pic>
        <p:nvPicPr>
          <p:cNvPr id="7" name="Image 1" descr="/sessions/brave-eager-cerf/mnt/outputs/build/img/image1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6385" y="2697480"/>
            <a:ext cx="2834640" cy="2180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1025" y="310896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Диалоговая память: 6 сообщений + резюме (Redis)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005840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60720" y="10972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узла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60720" y="1554480"/>
            <a:ext cx="73152" cy="82296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2" name="Text 8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0" y="184708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классификация: knowledge_base | small_talk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2514600"/>
            <a:ext cx="73152" cy="82296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5" name="Text 11"/>
          <p:cNvSpPr/>
          <p:nvPr/>
        </p:nvSpPr>
        <p:spPr>
          <a:xfrm>
            <a:off x="5943600" y="25146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28072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контекста, потоковая генерация, источники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60720" y="3474720"/>
            <a:ext cx="73152" cy="82296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18" name="Text 14"/>
          <p:cNvSpPr/>
          <p:nvPr/>
        </p:nvSpPr>
        <p:spPr>
          <a:xfrm>
            <a:off x="5943600" y="34747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43600" y="376732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без обращения к базе знаний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обработка и потоковая доставка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pic>
        <p:nvPicPr>
          <p:cNvPr id="5" name="Image 0" descr="/sessions/brave-eager-cerf/mnt/outputs/build/img/image1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868680"/>
            <a:ext cx="475488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 текстового сообщения</a:t>
            </a:r>
            <a:endParaRPr lang="en-US" sz="1000" dirty="0"/>
          </a:p>
        </p:txBody>
      </p:sp>
      <p:pic>
        <p:nvPicPr>
          <p:cNvPr id="7" name="Image 1" descr="/sessions/brave-eager-cerf/mnt/outputs/build/img/image1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" y="3276600"/>
            <a:ext cx="4754880" cy="15487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40680" y="868680"/>
            <a:ext cx="3383280" cy="379476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9" name="Text 5"/>
          <p:cNvSpPr/>
          <p:nvPr/>
        </p:nvSpPr>
        <p:spPr>
          <a:xfrm>
            <a:off x="5623560" y="960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23560" y="1417320"/>
            <a:ext cx="3017520" cy="3154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возвращается за миллисекунды без ожидания LLM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очереди: text и voice — независимое масштабирование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prefetch_count=1 защищает воркер от перегрузки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Redis llm:result:{task_id} изолирует пользователей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SSE: однонаправленный поток поверх HTTP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X-Accel-Buffering: no — мгновенная доставка через nginx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Мультимодальный ввод и интерфейс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ввод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2062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(CTranslate2, int8)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asyncio.to_thread → синхронный вызов вне event loop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— первое SSE-событие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Автоопределение языка (99 языков)</a:t>
            </a:r>
            <a:endParaRPr lang="en-US" sz="1200" dirty="0"/>
          </a:p>
        </p:txBody>
      </p:sp>
      <p:pic>
        <p:nvPicPr>
          <p:cNvPr id="7" name="Image 0" descr="/sessions/brave-eager-cerf/mnt/outputs/build/img/image1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2661920"/>
            <a:ext cx="4206240" cy="2075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(Gradio)</a:t>
            </a:r>
            <a:endParaRPr lang="en-US" sz="1500" dirty="0"/>
          </a:p>
        </p:txBody>
      </p:sp>
      <p:pic>
        <p:nvPicPr>
          <p:cNvPr id="9" name="Image 1" descr="/sessions/brave-eager-cerf/mnt/outputs/build/img/image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02810" y="1280160"/>
            <a:ext cx="4349750" cy="26200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чата с потоковым отображением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вкладка с таблицей документов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работоспособности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тестовых вопросов по 35 документам корпуса FinBridge; для каждого вопроса — эталонный документ. Качество: recall@10, экспертная точность, доля корректных ссылок, галлюцинации. Производительность: усреднение по серии прогонов на CPU.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878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1965960" cy="109728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9" name="Text 7"/>
          <p:cNvSpPr/>
          <p:nvPr/>
        </p:nvSpPr>
        <p:spPr>
          <a:xfrm>
            <a:off x="365760" y="182880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4048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релевантность</a:t>
            </a:r>
            <a:endParaRPr lang="ru-RU" altLang="en-US" sz="11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645920"/>
            <a:ext cx="1965960" cy="109728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3" name="Text 11"/>
          <p:cNvSpPr/>
          <p:nvPr/>
        </p:nvSpPr>
        <p:spPr>
          <a:xfrm>
            <a:off x="2514600" y="182880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24048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ответа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45920"/>
            <a:ext cx="1965960" cy="109728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7" name="Text 15"/>
          <p:cNvSpPr/>
          <p:nvPr/>
        </p:nvSpPr>
        <p:spPr>
          <a:xfrm>
            <a:off x="4663440" y="182880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4048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галлюцинации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6459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645920"/>
            <a:ext cx="1965960" cy="109728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21" name="Text 19"/>
          <p:cNvSpPr/>
          <p:nvPr/>
        </p:nvSpPr>
        <p:spPr>
          <a:xfrm>
            <a:off x="6812280" y="182880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мс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240487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 POST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365760" y="3246120"/>
          <a:ext cx="8412480" cy="1463040"/>
        </p:xfrm>
        <a:graphic>
          <a:graphicData uri="http://schemas.openxmlformats.org/drawingml/2006/table">
            <a:tbl>
              <a:tblPr/>
              <a:tblGrid>
                <a:gridCol w="3657600"/>
                <a:gridCol w="1554480"/>
                <a:gridCol w="1554480"/>
                <a:gridCol w="16459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 задачи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мс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мс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мс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до первого токена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 генерация ответа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Транскрибация (10–15 с речи)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 с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Text 1"/>
          <p:cNvSpPr/>
          <p:nvPr/>
        </p:nvSpPr>
        <p:spPr>
          <a:xfrm>
            <a:off x="365760" y="45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7" name="Text 5"/>
          <p:cNvSpPr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достигнуто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70332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задач выполнены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всем ФТ и НФТ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локальное исполнение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alt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сборка и запуск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подтверждена измерениями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Text 9"/>
          <p:cNvSpPr/>
          <p:nvPr/>
        </p:nvSpPr>
        <p:spPr>
          <a:xfrm>
            <a:off x="4800600" y="8686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0332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Telegram / Slack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 (векторный + BM25)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Сравнительное тестирование разных LLM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под доменную лексику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модели на GPU для производительности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Б. С.  •  ВКР  •  ЯрГУ,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920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A6"/>
          </a:solidFill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Атрошенко Богдан Сергеевич  •  ИВТ-41БО  •  ЯрГУ,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5252</Words>
  <Application>WPS Presentation</Application>
  <PresentationFormat>On-screen Show (16:9)</PresentationFormat>
  <Paragraphs>421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RAG-чат-бот для онбординга</dc:title>
  <dc:creator>Б. С. Атрошенко</dc:creator>
  <dc:subject>PptxGenJS Presentation</dc:subject>
  <cp:lastModifiedBy>Богдан Атрошенк�</cp:lastModifiedBy>
  <cp:revision>2</cp:revision>
  <dcterms:created xsi:type="dcterms:W3CDTF">2026-06-04T10:40:58Z</dcterms:created>
  <dcterms:modified xsi:type="dcterms:W3CDTF">2026-06-04T10:40:58Z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520C85DEB1E9E1DE3A56216A570AEF00_42</vt:lpwstr>
  </property>
  <property fmtid="{D5CDD505-2E9C-101B-9397-08002B2CF9AE}" pid="3" name="KSOProductBuildVer">
    <vt:lpwstr>1033-6.14.0.8716</vt:lpwstr>
  </property>
</Properties>
</file>