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67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интеллектуального чат-бота для автоматизации онбординга сотрудников на основе RAG-архитектуры с мультимодальным вводом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01.03.02 — Прикладная математика и информатика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Богдан Сергеевич, ИВТ-41БО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 ф.-м. н., доцент И. В. Парамонов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Ярославский государственный университет им. П. Г. Демидова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традиционного онбординга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5720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регламентов, политик и инструкций распределены по вики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сотрудник отвлекает коллег рутинными вопросами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требует знания терминологии, которой у новичка нет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 не поддерживается корпоративными системами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77724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4960" y="914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 на рынке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3291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Glean, Guru — корпоративный поиск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Virtual Agent — HR/ITSM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AI, Moveworks — HR-агенты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TEAMLY AI, Wikilect — RU-сегмент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3383280"/>
            <a:ext cx="3291840" cy="77724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94960" y="3383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решения — облачные сервисы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подписной моделью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868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интеллектуальную систему поддержки онбординга сотрудников, принимающую запросы в текстовом и голосовом форматах и формирующую ответы по корпоративной базе знаний с использованием RAG-архитектуры в режиме потоковой передачи токенов.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RAG-конвейер: загрузка → сегментация → индексация → поиск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24231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 агент на LangGraph с классификацией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обработка задач (RabbitMQ)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 доставка ответов (Redis Pub/Sub + SSE)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3977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9776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распознавания речи (faster-whisper)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384048" cy="384048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3977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39776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(Gradio) и REST API (FastAPI)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решений и новизна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77724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097280"/>
                <a:gridCol w="77724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Развёрт.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Glean / Guru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Подписка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VA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~Огр.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Leena AI / Moveworks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TEAMLY AI / Wikilect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млн 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Разрабатываемая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Локально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Инфра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777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0" y="1234440"/>
            <a:ext cx="109728" cy="86868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172200" y="13075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64592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 в контуре организации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24028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943600" y="2240280"/>
            <a:ext cx="109728" cy="86868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172200" y="231343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2651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Нулевые лицензионные затраты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24612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43600" y="3246120"/>
            <a:ext cx="109728" cy="86868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0" y="331927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голосовой ввод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технологии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0584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БД, HNSW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084832" y="100584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76272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76272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 (384)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03904" y="100584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95344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phi3:mini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95344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522976" y="100584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14416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состояний агента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42048" y="100584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33488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33488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сообщений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" y="278892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Шина токенов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84832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084832" y="278892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76272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76272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03904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803904" y="278892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895344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95344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часть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22976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522976" y="278892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614416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14416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42048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242048" y="2788920"/>
            <a:ext cx="1600200" cy="164592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333488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33488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5" name="Image 0" descr="/sessions/brave-eager-cerf/mnt/outputs/build/img/image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3657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8686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 запроса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0" y="137160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572000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83480" y="13533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FastAPI регистрирует задачу в RabbitMQ, возвращает task_id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87452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0" y="18745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8562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открывает SSE-соединение по task_id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0" y="23774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235915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Воркер забирает задачу, передаёт агенту LangGraph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88036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72000" y="28803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286207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классифицирует намерение и ветвит обработку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338328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572000" y="3383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33649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RAG-узел извлекает контекст из Qdrant, генерирует ответ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3886200"/>
            <a:ext cx="310896" cy="310896"/>
          </a:xfrm>
          <a:prstGeom prst="ellipse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0" y="38862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83480" y="38679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публикуются в Redis Pub/Sub → SSE → браузер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5" name="Image 0" descr="/sessions/brave-eager-cerf/mnt/outputs/build/img/image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41148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8686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индексации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23444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 - RecursiveCharacterTextSplitter (chunk_size=512, overlap=64) - BAAI/bge-small-en (384-d) - пакетная загрузка в Qdrant с payload {текст, источник}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2468880"/>
            <a:ext cx="4023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846320" y="26060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запроса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297180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- вектор - similarity_search (k=10, cosine) - сериализация фрагментов в контекст - передача LLM. Источники прикрепляются к ответу - обоснованность вместо галлюцинаций.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 агент (LangGraph)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5" name="Image 0" descr="/sessions/brave-eager-cerf/mnt/outputs/build/img/image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231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графа состояний</a:t>
            </a:r>
            <a:endParaRPr lang="en-US" sz="1000" dirty="0"/>
          </a:p>
        </p:txBody>
      </p:sp>
      <p:pic>
        <p:nvPicPr>
          <p:cNvPr id="7" name="Image 1" descr="/sessions/brave-eager-cerf/mnt/outputs/build/img/image1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6385" y="2697480"/>
            <a:ext cx="2834640" cy="2180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1025" y="31089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Диалоговая память: 6 сообщений + резюме (Redis)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005840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5760720" y="10972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узла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60720" y="1554480"/>
            <a:ext cx="73152" cy="82296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0" y="184708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классификация: knowledge_base | small_talk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2514600"/>
            <a:ext cx="73152" cy="82296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943600" y="25146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28072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контекста, потоковая генерация, источники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60720" y="3474720"/>
            <a:ext cx="73152" cy="82296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5943600" y="34747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43600" y="376732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без обращения к базе знаний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обработка и потоковая доставка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pic>
        <p:nvPicPr>
          <p:cNvPr id="5" name="Image 0" descr="/sessions/brave-eager-cerf/mnt/outputs/build/img/image1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868680"/>
            <a:ext cx="475488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 текстового сообщения</a:t>
            </a:r>
            <a:endParaRPr lang="en-US" sz="1000" dirty="0"/>
          </a:p>
        </p:txBody>
      </p:sp>
      <p:pic>
        <p:nvPicPr>
          <p:cNvPr id="7" name="Image 1" descr="/sessions/brave-eager-cerf/mnt/outputs/build/img/image1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" y="3276600"/>
            <a:ext cx="4754880" cy="15487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40680" y="868680"/>
            <a:ext cx="3383280" cy="379476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623560" y="960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23560" y="1417320"/>
            <a:ext cx="301752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возвращается за миллисекунды без ожидания LLM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очереди: text и voice — независимое масштабирование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prefetch_count=1 защищает воркер от перегрузки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Redis llm:result:{task_id} изолирует пользователей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SSE: однонаправленный поток поверх HTTP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X-Accel-Buffering: no — мгновенная доставка через nginx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Мультимодальный ввод и интерфейс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206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(CTranslate2, int8)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asyncio.to_thread → синхронный вызов вне event loop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— первое SSE-событие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Автоопределение языка (99 языков)</a:t>
            </a:r>
            <a:endParaRPr lang="en-US" sz="1200" dirty="0"/>
          </a:p>
        </p:txBody>
      </p:sp>
      <p:pic>
        <p:nvPicPr>
          <p:cNvPr id="7" name="Image 0" descr="/sessions/brave-eager-cerf/mnt/outputs/build/img/image1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2661920"/>
            <a:ext cx="4206240" cy="2075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(Gradio)</a:t>
            </a:r>
            <a:endParaRPr lang="en-US" sz="1500" dirty="0"/>
          </a:p>
        </p:txBody>
      </p:sp>
      <p:pic>
        <p:nvPicPr>
          <p:cNvPr id="9" name="Image 1" descr="/sessions/brave-eager-cerf/mnt/outputs/build/img/image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02810" y="1280160"/>
            <a:ext cx="4349750" cy="26200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чата с потоковым отображением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вкладка с таблицей документов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Методика оценки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B4A6"/>
                </a:solidFill>
              </a:rPr>
              <a:t>11</a:t>
            </a:r>
            <a:endParaRPr sz="1200" b="0">
              <a:solidFill>
                <a:srgbClr val="00B4A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Атрошенко Б. С.  •  ВКР  •  ЯрГУ, 2026</a:t>
            </a:r>
            <a:endParaRPr sz="900" b="0">
              <a:solidFill>
                <a:srgbClr val="6B728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11 / 14</a:t>
            </a:r>
            <a:endParaRPr sz="900" b="0">
              <a:solidFill>
                <a:srgbClr val="6B728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00B4A6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Датасет и платформа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</a:rPr>
              <a:t>50 вопросов  ×  5 категорий  ×  35 документов</a:t>
            </a:r>
            <a:endParaRPr sz="1200" b="1">
              <a:solidFill>
                <a:srgbClr val="1F2937"/>
              </a:solidFill>
            </a:endParaRPr>
          </a:p>
          <a:p>
            <a:pPr algn="l"/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B4A6"/>
                </a:solidFill>
              </a:rPr>
              <a:t>  small_talk (5)</a:t>
            </a:r>
            <a:r>
              <a:rPr sz="950" b="0">
                <a:solidFill>
                  <a:srgbClr val="6B7280"/>
                </a:solidFill>
              </a:rPr>
              <a:t>  — без обращения к базе знаний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B4A6"/>
                </a:solidFill>
              </a:rPr>
              <a:t>  easy_factual (15)</a:t>
            </a:r>
            <a:r>
              <a:rPr sz="950" b="0">
                <a:solidFill>
                  <a:srgbClr val="6B7280"/>
                </a:solidFill>
              </a:rPr>
              <a:t>  — прямые фактические вопросы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B4A6"/>
                </a:solidFill>
              </a:rPr>
              <a:t>  medium (10)</a:t>
            </a:r>
            <a:r>
              <a:rPr sz="950" b="0">
                <a:solidFill>
                  <a:srgbClr val="6B7280"/>
                </a:solidFill>
              </a:rPr>
              <a:t>  — синтез нескольких источников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B4A6"/>
                </a:solidFill>
              </a:rPr>
              <a:t>  complex (10)</a:t>
            </a:r>
            <a:r>
              <a:rPr sz="950" b="0">
                <a:solidFill>
                  <a:srgbClr val="6B7280"/>
                </a:solidFill>
              </a:rPr>
              <a:t>  — многоаспектные запросы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B4A6"/>
                </a:solidFill>
              </a:rPr>
              <a:t>  hallucination_trap (10)</a:t>
            </a:r>
            <a:r>
              <a:rPr sz="950" b="0">
                <a:solidFill>
                  <a:srgbClr val="6B7280"/>
                </a:solidFill>
              </a:rPr>
              <a:t>  — ловушки — ответа нет в корпусе</a:t>
            </a:r>
            <a:endParaRPr sz="950" b="0">
              <a:solidFill>
                <a:srgbClr val="6B7280"/>
              </a:solidFill>
            </a:endParaRPr>
          </a:p>
          <a:p>
            <a:pPr algn="l"/>
          </a:p>
          <a:p>
            <a:pPr algn="l"/>
            <a:r>
              <a:rPr sz="1100" b="1">
                <a:solidFill>
                  <a:srgbClr val="1F2937"/>
                </a:solidFill>
              </a:rPr>
              <a:t>Стенд</a:t>
            </a:r>
            <a:endParaRPr sz="1100" b="1">
              <a:solidFill>
                <a:srgbClr val="1F2937"/>
              </a:solidFill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B7280"/>
                </a:solidFill>
              </a:rPr>
              <a:t>MacBook Pro M4  •  16 ГБ RAM</a:t>
            </a:r>
            <a:endParaRPr sz="1000" b="0">
              <a:solidFill>
                <a:srgbClr val="6B7280"/>
              </a:solidFill>
            </a:endParaRPr>
          </a:p>
          <a:p>
            <a:pPr algn="l"/>
          </a:p>
          <a:p>
            <a:pPr algn="l"/>
            <a:r>
              <a:rPr sz="1100" b="1">
                <a:solidFill>
                  <a:srgbClr val="1F2937"/>
                </a:solidFill>
              </a:rPr>
              <a:t>Компоненты</a:t>
            </a:r>
            <a:endParaRPr sz="1100" b="1">
              <a:solidFill>
                <a:srgbClr val="1F2937"/>
              </a:solidFill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937"/>
                </a:solidFill>
              </a:rPr>
              <a:t>phi3:mini  (Ollama, Metal GPU, ~40–50 tok/s)</a:t>
            </a:r>
            <a:endParaRPr sz="1000" b="0">
              <a:solidFill>
                <a:srgbClr val="1F2937"/>
              </a:solidFill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937"/>
                </a:solidFill>
              </a:rPr>
              <a:t>BAAI/bge-small-en  (384-d, k=10, cosine)</a:t>
            </a:r>
            <a:endParaRPr sz="1000" b="0">
              <a:solidFill>
                <a:srgbClr val="1F2937"/>
              </a:solidFill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937"/>
                </a:solidFill>
              </a:rPr>
              <a:t>Qdrant + Redis + RabbitMQ  (Docker Compose)</a:t>
            </a:r>
            <a:endParaRPr sz="1000" b="0">
              <a:solidFill>
                <a:srgbClr val="1F2937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63440" y="868680"/>
            <a:ext cx="4114800" cy="3749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868680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Измеряемые метрики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1280160"/>
            <a:ext cx="3840480" cy="339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2A4A"/>
                </a:solidFill>
              </a:rPr>
              <a:t>Factual Score</a:t>
            </a:r>
            <a:endParaRPr sz="1100" b="1">
              <a:solidFill>
                <a:srgbClr val="0F2A4A"/>
              </a:solidFill>
            </a:endParaRP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</a:rPr>
              <a:t>Доля ключевых фактов эталонного ответа в ответе системы; оценивается LLM-судьёй </a:t>
            </a:r>
            <a:r>
              <a:rPr lang="en-US" sz="950" b="0">
                <a:solidFill>
                  <a:srgbClr val="6B7280"/>
                </a:solidFill>
              </a:rPr>
              <a:t>(Qwen 2.5 3B) </a:t>
            </a:r>
            <a:r>
              <a:rPr sz="950" b="0">
                <a:solidFill>
                  <a:srgbClr val="6B7280"/>
                </a:solidFill>
              </a:rPr>
              <a:t>по ключевым словам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2A4A"/>
                </a:solidFill>
              </a:rPr>
              <a:t>Relevance Recall@10</a:t>
            </a:r>
            <a:endParaRPr sz="1100" b="1">
              <a:solidFill>
                <a:srgbClr val="0F2A4A"/>
              </a:solidFill>
            </a:endParaRP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</a:rPr>
              <a:t>Эталонный документ входит в топ-10 фрагментов, извлечённых по косинусному сходству из Qdrant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2A4A"/>
                </a:solidFill>
              </a:rPr>
              <a:t>Hallucination Rate</a:t>
            </a:r>
            <a:endParaRPr sz="1100" b="1">
              <a:solidFill>
                <a:srgbClr val="0F2A4A"/>
              </a:solidFill>
            </a:endParaRP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</a:rPr>
              <a:t>Доля ответов с выдуманными фактами среди вопросов-ловушек (информация заведомо отсутствует в </a:t>
            </a:r>
            <a:r>
              <a:rPr lang="ru-RU" sz="950" b="0">
                <a:solidFill>
                  <a:srgbClr val="6B7280"/>
                </a:solidFill>
              </a:rPr>
              <a:t>данных</a:t>
            </a:r>
            <a:r>
              <a:rPr sz="950" b="0">
                <a:solidFill>
                  <a:srgbClr val="6B7280"/>
                </a:solidFill>
              </a:rPr>
              <a:t>)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2A4A"/>
                </a:solidFill>
              </a:rPr>
              <a:t>TTFT (Time To First Token)</a:t>
            </a:r>
            <a:endParaRPr sz="1100" b="1">
              <a:solidFill>
                <a:srgbClr val="0F2A4A"/>
              </a:solidFill>
            </a:endParaRP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</a:rPr>
              <a:t>Задержка от отправки POST-запроса до появления первого токена в SSE-потоке: HTTP + AMQP + classify + RAG + первый токен, мс</a:t>
            </a:r>
            <a:endParaRPr sz="950" b="0">
              <a:solidFill>
                <a:srgbClr val="6B7280"/>
              </a:solidFill>
            </a:endParaRP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2A4A"/>
                </a:solidFill>
              </a:rPr>
              <a:t>Total Time</a:t>
            </a:r>
            <a:endParaRPr sz="1100" b="1">
              <a:solidFill>
                <a:srgbClr val="0F2A4A"/>
              </a:solidFill>
            </a:endParaRP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</a:rPr>
              <a:t>Полное время от запроса до последнего токена ответа, включает генерацию и обновление диалогового резюме в Redis, мс</a:t>
            </a:r>
            <a:endParaRPr sz="950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Результаты оценки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B4A6"/>
                </a:solidFill>
              </a:rPr>
              <a:t>12</a:t>
            </a:r>
            <a:endParaRPr sz="1200" b="0">
              <a:solidFill>
                <a:srgbClr val="00B4A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Атрошенко Б. С.  •  ВКР  •  ЯрГУ, 2026</a:t>
            </a:r>
            <a:endParaRPr sz="900" b="0">
              <a:solidFill>
                <a:srgbClr val="6B728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12 / 14</a:t>
            </a:r>
            <a:endParaRPr sz="900" b="0">
              <a:solidFill>
                <a:srgbClr val="6B728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5295" y="5105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Оценка на 50 вопросах по корпусу FinBridge (35 документов) · симуляция на MacBook Pro M4 16 ГБ</a:t>
            </a:r>
            <a:endParaRPr sz="1000" b="0">
              <a:solidFill>
                <a:srgbClr val="6B728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960755"/>
            <a:ext cx="1965960" cy="84518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7985" y="1609090"/>
            <a:ext cx="1965960" cy="109728"/>
          </a:xfrm>
          <a:prstGeom prst="rect">
            <a:avLst/>
          </a:prstGeom>
          <a:solidFill>
            <a:srgbClr val="00B4A6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210" y="96012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4A6"/>
                </a:solidFill>
              </a:rPr>
              <a:t>0.93</a:t>
            </a:r>
            <a:endParaRPr sz="2800" b="1">
              <a:solidFill>
                <a:srgbClr val="00B4A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3990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Factual Score (avg)</a:t>
            </a:r>
            <a:endParaRPr sz="1000" b="0">
              <a:solidFill>
                <a:srgbClr val="6B728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4600" y="731520"/>
            <a:ext cx="1965960" cy="10744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6030" y="1609090"/>
            <a:ext cx="1965960" cy="109728"/>
          </a:xfrm>
          <a:prstGeom prst="rect">
            <a:avLst/>
          </a:prstGeom>
          <a:solidFill>
            <a:srgbClr val="00B4A6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868680"/>
            <a:ext cx="1965960" cy="502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2800" b="1">
                <a:solidFill>
                  <a:srgbClr val="16A34A"/>
                </a:solidFill>
              </a:rPr>
              <a:t>1.00</a:t>
            </a:r>
            <a:endParaRPr sz="2800" b="1">
              <a:solidFill>
                <a:srgbClr val="16A3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13990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Recall@10 (avg)</a:t>
            </a:r>
            <a:endParaRPr sz="1000" b="0">
              <a:solidFill>
                <a:srgbClr val="6B728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777240"/>
            <a:ext cx="1965960" cy="1028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86300" y="1609090"/>
            <a:ext cx="1965960" cy="109728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873125"/>
            <a:ext cx="1965960" cy="4984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2800" b="1">
                <a:solidFill>
                  <a:srgbClr val="F4A261"/>
                </a:solidFill>
              </a:rPr>
              <a:t>4 / 10</a:t>
            </a:r>
            <a:endParaRPr sz="2800" b="1">
              <a:solidFill>
                <a:srgbClr val="F4A26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13990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Галлюцинации (ловушки)</a:t>
            </a:r>
            <a:endParaRPr sz="1000" b="0">
              <a:solidFill>
                <a:srgbClr val="6B728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12280" y="723900"/>
            <a:ext cx="1965960" cy="1082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607185"/>
            <a:ext cx="1965960" cy="109728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82296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12.5 с</a:t>
            </a:r>
            <a:endParaRPr sz="2800" b="1">
              <a:solidFill>
                <a:srgbClr val="EF4444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13990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TTFT avg</a:t>
            </a:r>
            <a:endParaRPr sz="1000" b="0">
              <a:solidFill>
                <a:srgbClr val="6B728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192000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</a:rPr>
              <a:t>По категориям</a:t>
            </a:r>
            <a:endParaRPr sz="1400" b="1">
              <a:solidFill>
                <a:srgbClr val="0F2A4A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215000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"/>
                <a:gridCol w="1371600"/>
                <a:gridCol w="1371600"/>
                <a:gridCol w="237744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Категория</a:t>
                      </a:r>
                      <a:endParaRPr sz="9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N</a:t>
                      </a:r>
                      <a:endParaRPr sz="9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Factual</a:t>
                      </a:r>
                      <a:endParaRPr sz="9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Recall@10</a:t>
                      </a:r>
                      <a:endParaRPr sz="9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Hall.</a:t>
                      </a:r>
                      <a:endParaRPr sz="9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</a:rPr>
                        <a:t>small_talk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5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—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</a:rPr>
                        <a:t>easy_factual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15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</a:rPr>
                        <a:t>medium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0.76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</a:rPr>
                        <a:t>complex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0.92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</a:rPr>
                        <a:t>hallucination_trap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1.00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</a:rPr>
                        <a:t>—</a:t>
                      </a:r>
                      <a:endParaRPr sz="950" b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F4444"/>
                          </a:solidFill>
                        </a:rPr>
                        <a:t>4</a:t>
                      </a:r>
                      <a:endParaRPr sz="950" b="0">
                        <a:solidFill>
                          <a:srgbClr val="EF44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65760" y="4070350"/>
            <a:ext cx="8412480" cy="822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50" b="1">
                <a:solidFill>
                  <a:srgbClr val="00B4A6"/>
                </a:solidFill>
              </a:rPr>
              <a:t>Retrieval: </a:t>
            </a:r>
            <a:r>
              <a:rPr sz="950" b="0">
                <a:solidFill>
                  <a:srgbClr val="1F2937"/>
                </a:solidFill>
              </a:rPr>
              <a:t>Recall@10 = 100% — поиск работает без пропусков   </a:t>
            </a:r>
            <a:endParaRPr sz="950" b="0">
              <a:solidFill>
                <a:srgbClr val="1F2937"/>
              </a:solidFill>
            </a:endParaRPr>
          </a:p>
          <a:p>
            <a:r>
              <a:rPr sz="950" b="1">
                <a:solidFill>
                  <a:srgbClr val="0F2A4A"/>
                </a:solidFill>
              </a:rPr>
              <a:t>Точность: </a:t>
            </a:r>
            <a:r>
              <a:rPr sz="950" b="0">
                <a:solidFill>
                  <a:srgbClr val="1F2937"/>
                </a:solidFill>
              </a:rPr>
              <a:t>Factual 0.93 avg; medium 0.76 — требует синтеза нескольких документов</a:t>
            </a:r>
            <a:endParaRPr sz="950" b="0">
              <a:solidFill>
                <a:srgbClr val="1F2937"/>
              </a:solidFill>
            </a:endParaRP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4A261"/>
                </a:solidFill>
              </a:rPr>
              <a:t>Галлюцинации: </a:t>
            </a:r>
            <a:r>
              <a:rPr sz="950" b="0">
                <a:solidFill>
                  <a:srgbClr val="1F2937"/>
                </a:solidFill>
              </a:rPr>
              <a:t>0 на реальных вопросах; 4/10 на ловушках — phi3:mini придумывает при отсутствии данных  </a:t>
            </a:r>
            <a:endParaRPr sz="950" b="0">
              <a:solidFill>
                <a:srgbClr val="1F2937"/>
              </a:solidFill>
            </a:endParaRP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EF4444"/>
                </a:solidFill>
              </a:rPr>
              <a:t>TTFT avg: </a:t>
            </a:r>
            <a:r>
              <a:rPr sz="950" b="0">
                <a:solidFill>
                  <a:srgbClr val="1F2937"/>
                </a:solidFill>
              </a:rPr>
              <a:t>12.5 с — ограничена CPU-инференсом phi3:mini (~40–50 tok/s)</a:t>
            </a:r>
            <a:endParaRPr sz="950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00B4A6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достигнуто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70332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задач выполнены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всем ФТ и НФТ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локальное исполнение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alt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сборка и запуск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подтверждена измерениями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0F2A4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0600" y="8686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0332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Telegram / Slack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 (векторный + BM25)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Сравнительное тестирование разных LLM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под доменную лексику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модели на GPU для производительности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Богдан Сергеевич  •  ИВТ-41БО  •  ЯрГУ,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6563</Words>
  <Application>WPS Presentation</Application>
  <PresentationFormat>On-screen Show (16:9)</PresentationFormat>
  <Paragraphs>483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RAG-чат-бот для онбординга</dc:title>
  <dc:creator>Б. С. Атрошенко</dc:creator>
  <dc:subject>PptxGenJS Presentation</dc:subject>
  <cp:lastModifiedBy>Богдан Атрошенк�</cp:lastModifiedBy>
  <cp:revision>3</cp:revision>
  <dcterms:created xsi:type="dcterms:W3CDTF">2026-06-09T19:16:54Z</dcterms:created>
  <dcterms:modified xsi:type="dcterms:W3CDTF">2026-06-09T19:16:54Z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520C85DEB1E9E1DE3A56216A570AEF00_42</vt:lpwstr>
  </property>
  <property fmtid="{D5CDD505-2E9C-101B-9397-08002B2CF9AE}" pid="3" name="KSOProductBuildVer">
    <vt:lpwstr>1033-6.14.0.8716</vt:lpwstr>
  </property>
</Properties>
</file>